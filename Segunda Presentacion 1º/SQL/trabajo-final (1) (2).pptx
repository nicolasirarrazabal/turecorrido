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Y3s4jR5DDrkrSdL7u2PjCzPRc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EA716A-CD53-4DA4-A777-FC36B935982C}">
  <a:tblStyle styleId="{55EA716A-CD53-4DA4-A777-FC36B935982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st.github.com/NicolasIrarrazabal/025ca210a9b5d3e97999880241c65b28" TargetMode="External"/><Relationship Id="rId4" Type="http://schemas.openxmlformats.org/officeDocument/2006/relationships/hyperlink" Target="https://gist.github.com/NicolasIrarrazabal/025ca210a9b5d3e97999880241c65b28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st.github.com/NicolasIrarrazabal/237d36a2f2b59f83621c37676c28075f" TargetMode="External"/><Relationship Id="rId4" Type="http://schemas.openxmlformats.org/officeDocument/2006/relationships/hyperlink" Target="https://gist.github.com/NicolasIrarrazabal/237d36a2f2b59f83621c37676c28075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st.github.com/NicolasIrarrazabal/ad07c27235d41e9c690957f1403bb90b" TargetMode="External"/><Relationship Id="rId4" Type="http://schemas.openxmlformats.org/officeDocument/2006/relationships/hyperlink" Target="https://gist.github.com/NicolasIrarrazabal/ad07c27235d41e9c690957f1403bb90b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Entregable Taller Preparatorio — Evaluación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548640" y="100584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TuRecorrido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548640" y="192024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E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FD8E0"/>
                </a:solidFill>
                <a:latin typeface="Calibri"/>
                <a:ea typeface="Calibri"/>
                <a:cs typeface="Calibri"/>
                <a:sym typeface="Calibri"/>
              </a:rPr>
              <a:t>Plataforma digital de gestión para el transporte público en Chile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48640" y="329184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Rubro: Logística / Transporte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Vicente Herrera  ·  Nicolás Irarrázabal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de septiembre de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309360" y="1188720"/>
            <a:ext cx="2286000" cy="22860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737360"/>
            <a:ext cx="1188720" cy="118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Contexto del negocio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Descripción del negocio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457200" y="1325880"/>
            <a:ext cx="37490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TuRecorrido es una plataforma digital de gestión para el transporte público. A través de ella, los usuarios consultan recorridos y paradas en tiempo real, y reportan incidencias sobre el servicio o la flota.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4572000" y="1280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El sistema conecta 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0" y="1737360"/>
            <a:ext cx="4114800" cy="640080"/>
          </a:xfrm>
          <a:prstGeom prst="roundRect">
            <a:avLst>
              <a:gd fmla="val 11429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709160" y="1828800"/>
            <a:ext cx="457200" cy="457200"/>
          </a:xfrm>
          <a:prstGeom prst="ellipse">
            <a:avLst/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8888" y="19385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 txBox="1"/>
          <p:nvPr/>
        </p:nvSpPr>
        <p:spPr>
          <a:xfrm>
            <a:off x="5349240" y="173736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Pasajeros / usuarios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0" y="2514600"/>
            <a:ext cx="4114800" cy="640080"/>
          </a:xfrm>
          <a:prstGeom prst="roundRect">
            <a:avLst>
              <a:gd fmla="val 11429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09160" y="2606040"/>
            <a:ext cx="457200" cy="457200"/>
          </a:xfrm>
          <a:prstGeom prst="ellipse">
            <a:avLst/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8888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/>
        </p:nvSpPr>
        <p:spPr>
          <a:xfrm>
            <a:off x="5349240" y="25146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Conductores de microbuses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0" y="3291840"/>
            <a:ext cx="4114800" cy="640080"/>
          </a:xfrm>
          <a:prstGeom prst="roundRect">
            <a:avLst>
              <a:gd fmla="val 11429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709160" y="3383280"/>
            <a:ext cx="457200" cy="457200"/>
          </a:xfrm>
          <a:prstGeom prst="ellipse">
            <a:avLst/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8888" y="34930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5349240" y="32918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Empresas operadoras de transporte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0" y="4069080"/>
            <a:ext cx="4114800" cy="640080"/>
          </a:xfrm>
          <a:prstGeom prst="roundRect">
            <a:avLst>
              <a:gd fmla="val 11429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709160" y="4160520"/>
            <a:ext cx="457200" cy="457200"/>
          </a:xfrm>
          <a:prstGeom prst="ellipse">
            <a:avLst/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8888" y="42702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 txBox="1"/>
          <p:nvPr/>
        </p:nvSpPr>
        <p:spPr>
          <a:xfrm>
            <a:off x="5349240" y="40690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Administradores de fiscalización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Problema y objetivo del sistema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1097280"/>
            <a:ext cx="3291840" cy="3566160"/>
          </a:xfrm>
          <a:prstGeom prst="roundRect">
            <a:avLst>
              <a:gd fmla="val 2222" name="adj"/>
            </a:avLst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31520" y="1325880"/>
            <a:ext cx="548640" cy="54864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5" name="Google Shape;5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194" y="14575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 txBox="1"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A900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731520" y="2377440"/>
            <a:ext cx="27889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Poca información clara sobre horarios, rutas y paradas en Puerto Montt y Puerto Varas, y pocos canales formales de reclamo.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busca centralizar la información y facilitar el reporte de problemas, con enfoque accesible y respaldo comunal e institucional.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4114800" y="10972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La solución en PL/SQL automatizará: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114800" y="1554480"/>
            <a:ext cx="2148840" cy="1417320"/>
          </a:xfrm>
          <a:prstGeom prst="roundRect">
            <a:avLst>
              <a:gd fmla="val 5161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251960" y="169164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0715" y="17903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 txBox="1"/>
          <p:nvPr/>
        </p:nvSpPr>
        <p:spPr>
          <a:xfrm>
            <a:off x="4754880" y="16916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Gestión de incidencias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4251960" y="2194560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Registro, actualización y detección de reclamos recurrentes.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46520" y="1554480"/>
            <a:ext cx="2148840" cy="1417320"/>
          </a:xfrm>
          <a:prstGeom prst="roundRect">
            <a:avLst>
              <a:gd fmla="val 5161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583680" y="169164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2435" y="17903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 txBox="1"/>
          <p:nvPr/>
        </p:nvSpPr>
        <p:spPr>
          <a:xfrm>
            <a:off x="7086600" y="16916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Telemetría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6583680" y="2194560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Velocidad promedio, detección de desvíos y control de horarios.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114800" y="3154680"/>
            <a:ext cx="2148840" cy="1417320"/>
          </a:xfrm>
          <a:prstGeom prst="roundRect">
            <a:avLst>
              <a:gd fmla="val 5161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251960" y="329184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1" name="Google Shape;7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0715" y="33905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4754880" y="32918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Tarifas y evaluaciones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4251960" y="3794760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Tarifas automáticas y calificación de conductores.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46520" y="3154680"/>
            <a:ext cx="2148840" cy="1417320"/>
          </a:xfrm>
          <a:prstGeom prst="roundRect">
            <a:avLst>
              <a:gd fmla="val 5161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583680" y="329184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2435" y="33905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 txBox="1"/>
          <p:nvPr/>
        </p:nvSpPr>
        <p:spPr>
          <a:xfrm>
            <a:off x="7086600" y="32918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Validación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6583680" y="3794760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Reglas de negocio y errores (RUT inválidos, cambios de estado no permitidos).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RECORD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v_resumen  (tipo r_resumen_recorrido)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457200" y="13258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Campos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457200" y="1737360"/>
            <a:ext cx="1874520" cy="347472"/>
          </a:xfrm>
          <a:prstGeom prst="roundRect">
            <a:avLst>
              <a:gd fmla="val 5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457200" y="173736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recorrido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2468880" y="1737360"/>
            <a:ext cx="1874520" cy="347472"/>
          </a:xfrm>
          <a:prstGeom prst="roundRect">
            <a:avLst>
              <a:gd fmla="val 5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"/>
          <p:cNvSpPr txBox="1"/>
          <p:nvPr/>
        </p:nvSpPr>
        <p:spPr>
          <a:xfrm>
            <a:off x="2468880" y="173736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ruta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457200" y="2194560"/>
            <a:ext cx="1874520" cy="347472"/>
          </a:xfrm>
          <a:prstGeom prst="roundRect">
            <a:avLst>
              <a:gd fmla="val 5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 txBox="1"/>
          <p:nvPr/>
        </p:nvSpPr>
        <p:spPr>
          <a:xfrm>
            <a:off x="457200" y="219456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conductor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2468880" y="2194560"/>
            <a:ext cx="1874520" cy="347472"/>
          </a:xfrm>
          <a:prstGeom prst="roundRect">
            <a:avLst>
              <a:gd fmla="val 5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8"/>
          <p:cNvSpPr txBox="1"/>
          <p:nvPr/>
        </p:nvSpPr>
        <p:spPr>
          <a:xfrm>
            <a:off x="2468880" y="219456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nombre del conductor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57200" y="2651760"/>
            <a:ext cx="1874520" cy="347472"/>
          </a:xfrm>
          <a:prstGeom prst="roundRect">
            <a:avLst>
              <a:gd fmla="val 5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"/>
          <p:cNvSpPr txBox="1"/>
          <p:nvPr/>
        </p:nvSpPr>
        <p:spPr>
          <a:xfrm>
            <a:off x="457200" y="265176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velocidad promedio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2468880" y="2651760"/>
            <a:ext cx="1874520" cy="347472"/>
          </a:xfrm>
          <a:prstGeom prst="roundRect">
            <a:avLst>
              <a:gd fmla="val 5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8"/>
          <p:cNvSpPr txBox="1"/>
          <p:nvPr/>
        </p:nvSpPr>
        <p:spPr>
          <a:xfrm>
            <a:off x="2468880" y="265176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total de incidencias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 txBox="1"/>
          <p:nvPr/>
        </p:nvSpPr>
        <p:spPr>
          <a:xfrm>
            <a:off x="457200" y="324612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Guarda varios datos relacionados en una sola variable: mantiene la información del recorrido organizada y evita crear muchas variables por separado.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 txBox="1"/>
          <p:nvPr/>
        </p:nvSpPr>
        <p:spPr>
          <a:xfrm>
            <a:off x="4754880" y="13258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Salida obtenida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4754880" y="1737360"/>
            <a:ext cx="3931920" cy="1920240"/>
          </a:xfrm>
          <a:prstGeom prst="roundRect">
            <a:avLst>
              <a:gd fmla="val 3810" name="adj"/>
            </a:avLst>
          </a:prstGeom>
          <a:solidFill>
            <a:srgbClr val="0F1B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8"/>
          <p:cNvSpPr txBox="1"/>
          <p:nvPr/>
        </p:nvSpPr>
        <p:spPr>
          <a:xfrm>
            <a:off x="4937760" y="1874520"/>
            <a:ext cx="3566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Recorrido:   RC01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Ruta:        RT01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Conductor:   Carlos Munoz Rivas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Vel. prom:   53.95 km/h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Incidencias: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>
            <a:hlinkClick r:id="rId3"/>
          </p:cNvPr>
          <p:cNvSpPr txBox="1"/>
          <p:nvPr/>
        </p:nvSpPr>
        <p:spPr>
          <a:xfrm>
            <a:off x="4754880" y="37947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-US" sz="900" u="sng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gist.github.com/NicolasIrarrazabal/025ca210a9b5d3e97999880241c65b28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VARRAY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v_dia  (tipo t_dias_semana)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457200" y="1325880"/>
            <a:ext cx="1645920" cy="1645920"/>
          </a:xfrm>
          <a:prstGeom prst="roundRect">
            <a:avLst>
              <a:gd fmla="val 4444" name="adj"/>
            </a:avLst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 txBox="1"/>
          <p:nvPr/>
        </p:nvSpPr>
        <p:spPr>
          <a:xfrm>
            <a:off x="457200" y="137160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2A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200" y="23774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límite máximo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2331720" y="132588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Propósito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Guardar los siete días de la semana para identificar fácilmente el día de una fecha.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457200" y="3246120"/>
            <a:ext cx="4160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El máximo siempre será 7 días, por lo que se consultan directamente desde la colección sin una tabla adicional.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 txBox="1"/>
          <p:nvPr/>
        </p:nvSpPr>
        <p:spPr>
          <a:xfrm>
            <a:off x="4937760" y="9601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Salida obtenida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4937760" y="1325880"/>
            <a:ext cx="3749040" cy="3200400"/>
          </a:xfrm>
          <a:prstGeom prst="roundRect">
            <a:avLst>
              <a:gd fmla="val 2286" name="adj"/>
            </a:avLst>
          </a:prstGeom>
          <a:solidFill>
            <a:srgbClr val="0F1B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9"/>
          <p:cNvSpPr txBox="1"/>
          <p:nvPr/>
        </p:nvSpPr>
        <p:spPr>
          <a:xfrm>
            <a:off x="5120640" y="1463040"/>
            <a:ext cx="33832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Indice calculado: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Dia de hoy: MIERCOLES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Elementos en el VARRAY: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Limite maximo: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1 = LUNES      5 = VIERNES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2 = MARTES     6 = SABADO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3 = MIERCOLES  7 = DOMINGO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4 = JUEVES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>
            <a:hlinkClick r:id="rId3"/>
          </p:cNvPr>
          <p:cNvSpPr txBox="1"/>
          <p:nvPr/>
        </p:nvSpPr>
        <p:spPr>
          <a:xfrm>
            <a:off x="4937760" y="45720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-US" sz="900" u="sng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gist.github.com/NicolasIrarrazabal/237d36a2f2b59f83621c37676c28075f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Cursor explícito + ciclos anidados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Consulta maestro-detalle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0"/>
          <p:cNvSpPr txBox="1"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 txBox="1"/>
          <p:nvPr/>
        </p:nvSpPr>
        <p:spPr>
          <a:xfrm>
            <a:off x="1143000" y="12801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c_conductores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Obtiene los conductores de un operador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0"/>
          <p:cNvCxnSpPr/>
          <p:nvPr/>
        </p:nvCxnSpPr>
        <p:spPr>
          <a:xfrm>
            <a:off x="708660" y="1847088"/>
            <a:ext cx="0" cy="301752"/>
          </a:xfrm>
          <a:prstGeom prst="straightConnector1">
            <a:avLst/>
          </a:prstGeom>
          <a:noFill/>
          <a:ln cap="flat" cmpd="sng" w="25400">
            <a:solidFill>
              <a:srgbClr val="F2A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0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0"/>
          <p:cNvSpPr txBox="1"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 txBox="1"/>
          <p:nvPr/>
        </p:nvSpPr>
        <p:spPr>
          <a:xfrm>
            <a:off x="1143000" y="21031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c_recorridos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Recorridos de cada conductor en un período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0"/>
          <p:cNvCxnSpPr/>
          <p:nvPr/>
        </p:nvCxnSpPr>
        <p:spPr>
          <a:xfrm>
            <a:off x="708660" y="2670048"/>
            <a:ext cx="0" cy="301752"/>
          </a:xfrm>
          <a:prstGeom prst="straightConnector1">
            <a:avLst/>
          </a:prstGeom>
          <a:noFill/>
          <a:ln cap="flat" cmpd="sng" w="25400">
            <a:solidFill>
              <a:srgbClr val="F2A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10"/>
          <p:cNvSpPr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0"/>
          <p:cNvSpPr txBox="1"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 txBox="1"/>
          <p:nvPr/>
        </p:nvSpPr>
        <p:spPr>
          <a:xfrm>
            <a:off x="1143000" y="292608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Conteo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Cuenta las incidencias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10"/>
          <p:cNvCxnSpPr/>
          <p:nvPr/>
        </p:nvCxnSpPr>
        <p:spPr>
          <a:xfrm>
            <a:off x="708660" y="3493008"/>
            <a:ext cx="0" cy="301752"/>
          </a:xfrm>
          <a:prstGeom prst="straightConnector1">
            <a:avLst/>
          </a:prstGeom>
          <a:noFill/>
          <a:ln cap="flat" cmpd="sng" w="25400">
            <a:solidFill>
              <a:srgbClr val="F2A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10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1143000" y="37490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Salida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Muestra los resultados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 txBox="1"/>
          <p:nvPr/>
        </p:nvSpPr>
        <p:spPr>
          <a:xfrm>
            <a:off x="457200" y="45720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Parámetros: </a:t>
            </a:r>
            <a:r>
              <a:rPr b="0" i="0" lang="en-US" sz="1100" u="none" cap="none" strike="noStrike">
                <a:solidFill>
                  <a:srgbClr val="1F2933"/>
                </a:solidFill>
                <a:latin typeface="Courier New"/>
                <a:ea typeface="Courier New"/>
                <a:cs typeface="Courier New"/>
                <a:sym typeface="Courier New"/>
              </a:rPr>
              <a:t>p_id_conductor, p_desde, p_hasta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4297680" y="1280160"/>
            <a:ext cx="4389120" cy="3108960"/>
          </a:xfrm>
          <a:prstGeom prst="roundRect">
            <a:avLst>
              <a:gd fmla="val 2353" name="adj"/>
            </a:avLst>
          </a:prstGeom>
          <a:solidFill>
            <a:srgbClr val="0F1B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4480560" y="1417320"/>
            <a:ext cx="40233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Conductor: Carlos Munoz Rivas (CD01)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RC01 | ruta RT01 | 07-09 07:42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| incid: 3 | vel: 53.95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&gt;&gt; Recorridos: 1 | Incidencias: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Conductor: Marcos Vera Llanos (CD02)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RC02 | ruta RT01 | 07-09 12:00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| incid: 1 | vel: 42.6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&gt;&gt; Recorridos: 1 | Incidencias: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>
            <a:hlinkClick r:id="rId3"/>
          </p:cNvPr>
          <p:cNvSpPr txBox="1"/>
          <p:nvPr/>
        </p:nvSpPr>
        <p:spPr>
          <a:xfrm>
            <a:off x="4297680" y="44805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-US" sz="900" u="sng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gist.github.com/NicolasIrarrazabal/ad07c27235d41e9c690957f1403bb90b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Excepciones, funciones y procedimientos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 txBox="1"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Predefinidas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457200" y="1417320"/>
            <a:ext cx="3840480" cy="365760"/>
          </a:xfrm>
          <a:prstGeom prst="roundRect">
            <a:avLst>
              <a:gd fmla="val 2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 txBox="1"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NO_DATA_FOUND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457200" y="1874520"/>
            <a:ext cx="3840480" cy="365760"/>
          </a:xfrm>
          <a:prstGeom prst="roundRect">
            <a:avLst>
              <a:gd fmla="val 2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 txBox="1"/>
          <p:nvPr/>
        </p:nvSpPr>
        <p:spPr>
          <a:xfrm>
            <a:off x="640080" y="18745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TOO_MANY_ROWS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457200" y="2331720"/>
            <a:ext cx="3840480" cy="365760"/>
          </a:xfrm>
          <a:prstGeom prst="roundRect">
            <a:avLst>
              <a:gd fmla="val 2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640080" y="23317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VALUE_ERROR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457200" y="2926080"/>
            <a:ext cx="3840480" cy="1737360"/>
          </a:xfrm>
          <a:prstGeom prst="roundRect">
            <a:avLst>
              <a:gd fmla="val 4211" name="adj"/>
            </a:avLst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685800" y="3017520"/>
            <a:ext cx="3429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A900"/>
                </a:solidFill>
                <a:latin typeface="Arial"/>
                <a:ea typeface="Arial"/>
                <a:cs typeface="Arial"/>
                <a:sym typeface="Arial"/>
              </a:rPr>
              <a:t>Personalizada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e_usuario_no_encontrado  (-20004)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D8E0"/>
                </a:solidFill>
                <a:latin typeface="Calibri"/>
                <a:ea typeface="Calibri"/>
                <a:cs typeface="Calibri"/>
                <a:sym typeface="Calibri"/>
              </a:rPr>
              <a:t>Se lanza con RAISE cuando el usuario indicado no existe en el sistema.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4663440" y="1005840"/>
            <a:ext cx="4023360" cy="1188720"/>
          </a:xfrm>
          <a:prstGeom prst="roundRect">
            <a:avLst>
              <a:gd fmla="val 6154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4846320" y="1078992"/>
            <a:ext cx="3703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Función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Obtiene un resultado y lo devuelve con RETURN.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fn_calcular_tarifa: calcula y devuelve un único monto.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4663440" y="2331720"/>
            <a:ext cx="4023360" cy="1188720"/>
          </a:xfrm>
          <a:prstGeom prst="roundRect">
            <a:avLst>
              <a:gd fmla="val 6154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1"/>
          <p:cNvSpPr txBox="1"/>
          <p:nvPr/>
        </p:nvSpPr>
        <p:spPr>
          <a:xfrm>
            <a:off x="4846320" y="2404872"/>
            <a:ext cx="3703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Procedimiento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Realiza acciones o devuelve varios resultados por parámetros.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sp_evaluar_reincidencia: cantidad de reclamos y si se supera el límite.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4663440" y="3749040"/>
            <a:ext cx="1280160" cy="914400"/>
          </a:xfrm>
          <a:prstGeom prst="roundRect">
            <a:avLst>
              <a:gd fmla="val 8000" name="adj"/>
            </a:avLst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4709160" y="374904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recibe un dato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6035040" y="3749040"/>
            <a:ext cx="1280160" cy="914400"/>
          </a:xfrm>
          <a:prstGeom prst="roundRect">
            <a:avLst>
              <a:gd fmla="val 8000" name="adj"/>
            </a:avLst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6080760" y="374904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devuelve un dato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7406640" y="3749040"/>
            <a:ext cx="1280160" cy="914400"/>
          </a:xfrm>
          <a:prstGeom prst="roundRect">
            <a:avLst>
              <a:gd fmla="val 8000" name="adj"/>
            </a:avLst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7452360" y="374904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IN 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recibe, modifica y devuelve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Packages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 txBox="1"/>
          <p:nvPr/>
        </p:nvSpPr>
        <p:spPr>
          <a:xfrm>
            <a:off x="457200" y="874698"/>
            <a:ext cx="27501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Agrupan funciones, procedimientos y otros elementos relacionados en un mismo lugar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457200" y="1371600"/>
            <a:ext cx="3840480" cy="1234440"/>
          </a:xfrm>
          <a:prstGeom prst="roundRect">
            <a:avLst>
              <a:gd fmla="val 5926" name="adj"/>
            </a:avLst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2"/>
          <p:cNvSpPr txBox="1"/>
          <p:nvPr/>
        </p:nvSpPr>
        <p:spPr>
          <a:xfrm>
            <a:off x="685800" y="1371600"/>
            <a:ext cx="3429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A900"/>
                </a:solidFill>
                <a:latin typeface="Arial"/>
                <a:ea typeface="Arial"/>
                <a:cs typeface="Arial"/>
                <a:sym typeface="Arial"/>
              </a:rPr>
              <a:t>Specification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Indica qué elementos pueden utilizarse desde fuera del package.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457200" y="2788920"/>
            <a:ext cx="3840480" cy="1234440"/>
          </a:xfrm>
          <a:prstGeom prst="roundRect">
            <a:avLst>
              <a:gd fmla="val 5926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685800" y="2788920"/>
            <a:ext cx="3429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Contiene el código que implementa </a:t>
            </a:r>
            <a:r>
              <a:rPr lang="en-US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estos</a:t>
            </a:r>
            <a:r>
              <a:rPr b="0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 elementos.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457200" y="42976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Mantiene el código organizado, facilita modificaciones y evita tener lógica relacionada separada.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4681150" y="27428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Triggers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4807100" y="755301"/>
            <a:ext cx="3318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Código que se ejecuta automáticamente ante un INSERT, UPDATE o DELETE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4733500" y="1325880"/>
            <a:ext cx="1874400" cy="1417200"/>
          </a:xfrm>
          <a:prstGeom prst="roundRect">
            <a:avLst>
              <a:gd fmla="val 5161" name="adj"/>
            </a:avLst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4870660" y="1371600"/>
            <a:ext cx="16458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2A900"/>
                </a:solidFill>
                <a:latin typeface="Courier New"/>
                <a:ea typeface="Courier New"/>
                <a:cs typeface="Courier New"/>
                <a:sym typeface="Courier New"/>
              </a:rPr>
              <a:t>BEFORE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Antes del cambio: permite validar o modificar los datos a guardar.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6745180" y="1325880"/>
            <a:ext cx="1874400" cy="1417200"/>
          </a:xfrm>
          <a:prstGeom prst="roundRect">
            <a:avLst>
              <a:gd fmla="val 5161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6882340" y="1371600"/>
            <a:ext cx="16458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AFTER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Después del cambio: registrar acciones o procesos adicionales.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12"/>
          <p:cNvGraphicFramePr/>
          <p:nvPr/>
        </p:nvGraphicFramePr>
        <p:xfrm>
          <a:off x="4733500" y="292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{55EA716A-CD53-4DA4-A777-FC36B935982C}</a:tableStyleId>
              </a:tblPr>
              <a:tblGrid>
                <a:gridCol w="1143000"/>
                <a:gridCol w="1371600"/>
                <a:gridCol w="13716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Operación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:OLD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:NEW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ourier New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9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INSERT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nuevo valor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ourier New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9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UPDATE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anterior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nuevo valor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ourier New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9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DELETE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previo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12"/>
          <p:cNvSpPr txBox="1"/>
          <p:nvPr/>
        </p:nvSpPr>
        <p:spPr>
          <a:xfrm>
            <a:off x="4733500" y="4343400"/>
            <a:ext cx="388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/>
          <p:nvPr/>
        </p:nvSpPr>
        <p:spPr>
          <a:xfrm>
            <a:off x="3648875" y="1440210"/>
            <a:ext cx="1371600" cy="13716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324577" y="1656974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Fin…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E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FD8E0"/>
                </a:solidFill>
                <a:latin typeface="Calibri"/>
                <a:ea typeface="Calibri"/>
                <a:cs typeface="Calibri"/>
                <a:sym typeface="Calibri"/>
              </a:rPr>
              <a:t>TuRecorrido  ·  Vicente Herrera  ·  Nicolás Irarrázabal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2026-09-15T01:51:44Z</dcterms:created>
  <dc:creator>PptxGenJS</dc:creator>
</cp:coreProperties>
</file>
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6" r:id="rId11"/>
    <p:sldId id="264" r:id="rId12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iY3s4jR5DDrkrSdL7u2PjCzPRc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5EA716A-CD53-4DA4-A777-FC36B935982C}">
  <a:tblStyle styleId="{55EA716A-CD53-4DA4-A777-FC36B935982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7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" name="Google Shape;2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" name="Google Shape;5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dirty="0"/>
          </a:p>
        </p:txBody>
      </p:sp>
      <p:sp>
        <p:nvSpPr>
          <p:cNvPr id="82" name="Google Shape;8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dirty="0"/>
          </a:p>
        </p:txBody>
      </p:sp>
      <p:sp>
        <p:nvSpPr>
          <p:cNvPr id="107" name="Google Shape;10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dirty="0"/>
          </a:p>
        </p:txBody>
      </p:sp>
      <p:sp>
        <p:nvSpPr>
          <p:cNvPr id="123" name="Google Shape;12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dirty="0"/>
          </a:p>
        </p:txBody>
      </p:sp>
      <p:sp>
        <p:nvSpPr>
          <p:cNvPr id="149" name="Google Shape;14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dirty="0"/>
          </a:p>
        </p:txBody>
      </p:sp>
      <p:sp>
        <p:nvSpPr>
          <p:cNvPr id="174" name="Google Shape;17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dirty="0"/>
          </a:p>
        </p:txBody>
      </p:sp>
      <p:sp>
        <p:nvSpPr>
          <p:cNvPr id="194" name="Google Shape;194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st.github.com/NicolasIrarrazabal/ad07c27235d41e9c690957f1403bb90b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Evaluación Parcial N.º 2 · Taller de Base de Datos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548640" y="100584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TuRecorrido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548640" y="192024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E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CFD8E0"/>
                </a:solidFill>
                <a:latin typeface="Calibri"/>
                <a:ea typeface="Calibri"/>
                <a:cs typeface="Calibri"/>
                <a:sym typeface="Calibri"/>
              </a:rPr>
              <a:t>Plataforma digital de gestión para el transporte público en Chile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548640" y="329184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Rubro: Logística / Transporte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Vicente Herrera · Nicolás Irarrázabal</a:t>
            </a:r>
          </a:p>
          <a:p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Procedimientos, funciones, packages y triggers</a:t>
            </a:r>
          </a:p>
        </p:txBody>
      </p:sp>
      <p:sp>
        <p:nvSpPr>
          <p:cNvPr id="20" name="Google Shape;20;p1"/>
          <p:cNvSpPr/>
          <p:nvPr/>
        </p:nvSpPr>
        <p:spPr>
          <a:xfrm>
            <a:off x="6309360" y="1188720"/>
            <a:ext cx="2286000" cy="228600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0" y="1737360"/>
            <a:ext cx="1188720" cy="1188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Contexto del negocio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Descripción del negocio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457200" y="1325880"/>
            <a:ext cx="374904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TuRecorrido es una plataforma digital de gestión para el transporte público. A través de ella, los usuarios consultan recorridos y paradas en tiempo real, y reportan incidencias sobre el servicio o la flota.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4572000" y="12801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El sistema conecta a: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572000" y="173736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EEF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709160" y="1828800"/>
            <a:ext cx="457200" cy="457200"/>
          </a:xfrm>
          <a:prstGeom prst="ellipse">
            <a:avLst/>
          </a:prstGeom>
          <a:solidFill>
            <a:srgbClr val="1B2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Google Shape;33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8888" y="19385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 txBox="1"/>
          <p:nvPr/>
        </p:nvSpPr>
        <p:spPr>
          <a:xfrm>
            <a:off x="5349240" y="173736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Pasajeros / usuarios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0" y="251460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EEF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709160" y="2606040"/>
            <a:ext cx="457200" cy="457200"/>
          </a:xfrm>
          <a:prstGeom prst="ellipse">
            <a:avLst/>
          </a:prstGeom>
          <a:solidFill>
            <a:srgbClr val="1B2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" name="Google Shape;37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18888" y="27157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 txBox="1"/>
          <p:nvPr/>
        </p:nvSpPr>
        <p:spPr>
          <a:xfrm>
            <a:off x="5349240" y="251460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Conductores de microbuses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0" y="329184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EEF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709160" y="3383280"/>
            <a:ext cx="457200" cy="457200"/>
          </a:xfrm>
          <a:prstGeom prst="ellipse">
            <a:avLst/>
          </a:prstGeom>
          <a:solidFill>
            <a:srgbClr val="1B2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Google Shape;41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18888" y="349300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 txBox="1"/>
          <p:nvPr/>
        </p:nvSpPr>
        <p:spPr>
          <a:xfrm>
            <a:off x="5349240" y="329184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Empresas operadoras de transporte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572000" y="406908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EEF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709160" y="4160520"/>
            <a:ext cx="457200" cy="457200"/>
          </a:xfrm>
          <a:prstGeom prst="ellipse">
            <a:avLst/>
          </a:prstGeom>
          <a:solidFill>
            <a:srgbClr val="1B2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" name="Google Shape;45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18888" y="42702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 txBox="1"/>
          <p:nvPr/>
        </p:nvSpPr>
        <p:spPr>
          <a:xfrm>
            <a:off x="5349240" y="406908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Administradores de fiscalización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Problema y objetivo del sistema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57200" y="109728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1B2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731520" y="1325880"/>
            <a:ext cx="548640" cy="54864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194" y="145755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"/>
          <p:cNvSpPr txBox="1"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2A900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731520" y="2377440"/>
            <a:ext cx="2788920" cy="214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Poca información clara sobre horarios, rutas y paradas en Puerto Montt y Puerto Varas, y pocos canales formales de reclamo.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 busca centralizar la información y facilitar el reporte de problemas, con enfoque accesible y respaldo comunal e institucional.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4114800" y="10972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La solución en PL/SQL permite: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114800" y="155448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EEF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251960" y="1691640"/>
            <a:ext cx="411480" cy="41148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50715" y="1790395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"/>
          <p:cNvSpPr txBox="1"/>
          <p:nvPr/>
        </p:nvSpPr>
        <p:spPr>
          <a:xfrm>
            <a:off x="4754880" y="169164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Gestión de incidencias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4251960" y="2194560"/>
            <a:ext cx="1874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Registro, actualización y detección de reclamos recurrentes.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446520" y="155448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EEF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583680" y="1691640"/>
            <a:ext cx="411480" cy="41148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82435" y="1790395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 txBox="1"/>
          <p:nvPr/>
        </p:nvSpPr>
        <p:spPr>
          <a:xfrm>
            <a:off x="7086600" y="169164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Telemetría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6583680" y="2194560"/>
            <a:ext cx="1874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Calcular la velocidad promedio a partir de mediciones por recorrido.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114800" y="315468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EEF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251960" y="3291840"/>
            <a:ext cx="411480" cy="41148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0715" y="3390595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 txBox="1"/>
          <p:nvPr/>
        </p:nvSpPr>
        <p:spPr>
          <a:xfrm>
            <a:off x="4754880" y="329184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Tarifas y horarios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4251960" y="3794760"/>
            <a:ext cx="1874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Aplicar descuentos y obtener el día actual para consultar horarios.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446520" y="315468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EEF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583680" y="3291840"/>
            <a:ext cx="411480" cy="41148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82435" y="3390595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 txBox="1"/>
          <p:nvPr/>
        </p:nvSpPr>
        <p:spPr>
          <a:xfrm>
            <a:off x="7086600" y="329184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Validación de datos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6583680" y="3794760"/>
            <a:ext cx="1874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Validar usuarios, rangos de fechas y cambios de estado de los tickets.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83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800" b="1">
                <a:solidFill>
                  <a:srgbClr val="1B2A3A"/>
                </a:solidFill>
                <a:latin typeface="Arial"/>
              </a:rPr>
              <a:t>Procedimientos con y sin parámetros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7200" y="859536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5B6B7A"/>
                </a:solidFill>
                <a:latin typeface="Calibri"/>
              </a:rPr>
              <a:t>Centralizar la evaluación de reclamos y reutilizarla en la revisión diaria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57200" y="1371600"/>
            <a:ext cx="3977639" cy="219456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40080" y="1536192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1B2A3A"/>
                </a:solidFill>
                <a:latin typeface="Arial"/>
              </a:rPr>
              <a:t>Con parámetros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0080" y="1920240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B2A3A"/>
                </a:solidFill>
                <a:latin typeface="Courier New"/>
              </a:rPr>
              <a:t>sp_evaluar_reincidencia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2377440"/>
            <a:ext cx="36118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F2933"/>
                </a:solidFill>
                <a:latin typeface="Calibri"/>
              </a:rPr>
              <a:t>IN: tipo e ID del objetivo, fechas y límite.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F2933"/>
                </a:solidFill>
                <a:latin typeface="Calibri"/>
              </a:rPr>
              <a:t>OUT: cantidad de tickets y SI / NO.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F2933"/>
                </a:solidFill>
                <a:latin typeface="Calibri"/>
              </a:rPr>
              <a:t>Valida entradas y cuenta incidencias.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663440" y="1371600"/>
            <a:ext cx="4023360" cy="219456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846320" y="153619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1B2A3A"/>
                </a:solidFill>
                <a:latin typeface="Arial"/>
              </a:rPr>
              <a:t>Sin parámetros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846320" y="19202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80" b="1">
                <a:solidFill>
                  <a:srgbClr val="1B2A3A"/>
                </a:solidFill>
                <a:latin typeface="Courier New"/>
              </a:rPr>
              <a:t>sp_revisar_reincidencia_diaria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846320" y="237744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F2933"/>
                </a:solidFill>
                <a:latin typeface="Calibri"/>
              </a:rPr>
              <a:t>Recorre todos los conductores.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F2933"/>
                </a:solidFill>
                <a:latin typeface="Calibri"/>
              </a:rPr>
              <a:t>Reutiliza el procedimiento anterior.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F2933"/>
                </a:solidFill>
                <a:latin typeface="Calibri"/>
              </a:rPr>
              <a:t>Evalúa el día actual con límite 10.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7200" y="379476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B2A3A"/>
                </a:solidFill>
                <a:latin typeface="Calibri"/>
              </a:rPr>
              <a:t>¿Por qué procedimientos? Ejecutan un proceso y entregan varios resultados mediante OUT.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200" y="446227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5B6B7A"/>
                </a:solidFill>
                <a:latin typeface="Calibri"/>
              </a:rPr>
              <a:t>Se invocan desde PL/SQL o CALL; no como una expresión dentro de SELECT.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108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800" b="1">
                <a:solidFill>
                  <a:srgbClr val="1B2A3A"/>
                </a:solidFill>
                <a:latin typeface="Arial"/>
              </a:rPr>
              <a:t>Funciones: cálculos reutilizables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7200" y="859536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5B6B7A"/>
                </a:solidFill>
                <a:latin typeface="Calibri"/>
              </a:rPr>
              <a:t>Con parámetros para consultar datos; sin parámetros para obtener el día actual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457200" y="1353312"/>
            <a:ext cx="4389120" cy="978408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21792" y="1463040"/>
            <a:ext cx="406908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80" b="1">
                <a:solidFill>
                  <a:srgbClr val="1B2A3A"/>
                </a:solidFill>
                <a:latin typeface="Courier New"/>
              </a:rPr>
              <a:t>fn_dia_semana_actual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21792" y="1792224"/>
            <a:ext cx="4069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F2933"/>
                </a:solidFill>
                <a:latin typeface="Calibri"/>
              </a:rPr>
              <a:t>Sin parámetros → LUNES a DOMINGO.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F2933"/>
                </a:solidFill>
                <a:latin typeface="Calibri"/>
              </a:rPr>
              <a:t>Usa la semana ISO; evita depender del idioma.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57200" y="2441448"/>
            <a:ext cx="4389120" cy="978408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21792" y="2551176"/>
            <a:ext cx="406908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80" b="1">
                <a:solidFill>
                  <a:srgbClr val="1B2A3A"/>
                </a:solidFill>
                <a:latin typeface="Courier New"/>
              </a:rPr>
              <a:t>pkg_telemetria.fn_velocidad_promedio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21792" y="2880360"/>
            <a:ext cx="4069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F2933"/>
                </a:solidFill>
                <a:latin typeface="Calibri"/>
              </a:rPr>
              <a:t>ID recorrido → promedio en km/h.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F2933"/>
                </a:solidFill>
                <a:latin typeface="Calibri"/>
              </a:rPr>
              <a:t>Resume múltiples mediciones con AVG.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57200" y="3529584"/>
            <a:ext cx="4389120" cy="978408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21792" y="3639312"/>
            <a:ext cx="406908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80" b="1">
                <a:solidFill>
                  <a:srgbClr val="1B2A3A"/>
                </a:solidFill>
                <a:latin typeface="Courier New"/>
              </a:rPr>
              <a:t>pkg_tarifas.fn_calcular_tarifa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1792" y="3968496"/>
            <a:ext cx="4069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F2933"/>
                </a:solidFill>
                <a:latin typeface="Calibri"/>
              </a:rPr>
              <a:t>ID ruta + ID usuario → monto final en CLP.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F2933"/>
                </a:solidFill>
                <a:latin typeface="Calibri"/>
              </a:rPr>
              <a:t>Aplica el descuento del tipo de pasajero.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074920" y="1353312"/>
            <a:ext cx="3611880" cy="2331720"/>
          </a:xfrm>
          <a:prstGeom prst="roundRect">
            <a:avLst>
              <a:gd name="adj" fmla="val 5000"/>
            </a:avLst>
          </a:prstGeom>
          <a:solidFill>
            <a:srgbClr val="0F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5239512" y="1499616"/>
            <a:ext cx="3282696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>SELECT fn_dia_semana_actual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>FROM dual;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sz="1200" b="0">
              <a:solidFill>
                <a:srgbClr val="E6EDF3"/>
              </a:solidFill>
              <a:latin typeface="Courier New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>SELECT pkg_telemetria.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>  fn_velocidad_promedio(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>    'RC01')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>FROM dual;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074920" y="3840480"/>
            <a:ext cx="3611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B2A3A"/>
                </a:solidFill>
                <a:latin typeface="Calibri"/>
              </a:rPr>
              <a:t>Devuelven un valor con RETURN.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B2A3A"/>
                </a:solidFill>
                <a:latin typeface="Calibri"/>
              </a:rPr>
              <a:t>Se reutilizan desde SQL y PL/SQL.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800" b="1">
                <a:solidFill>
                  <a:srgbClr val="1B2A3A"/>
                </a:solidFill>
                <a:latin typeface="Arial"/>
              </a:rPr>
              <a:t>Funciones: implementación y uso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59536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5B6B7A"/>
                </a:solidFill>
                <a:latin typeface="Calibri"/>
              </a:rPr>
              <a:t>Fragmentos del informe: una función sin parámetros y otra con un ID de recorrido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B2A3A"/>
                </a:solidFill>
                <a:latin typeface="Arial"/>
              </a:rPr>
              <a:t>Sin parámetros · día actual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19072"/>
            <a:ext cx="3977639" cy="2313432"/>
          </a:xfrm>
          <a:prstGeom prst="roundRect">
            <a:avLst>
              <a:gd name="adj" fmla="val 5000"/>
            </a:avLst>
          </a:prstGeom>
          <a:solidFill>
            <a:srgbClr val="0F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865376"/>
            <a:ext cx="3648456" cy="2039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>-- fn_dia_semana_actual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>v_indice := TRUNC(SYSDATE)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>  - TRUNC(SYSDATE, 'IW') + 1;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>CASE v_indice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>  WHEN 1 THEN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>    v_nombre_dia := 'LUNES';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>  -- Casos 2 a 7 en el informe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>END CASE;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>RETURN v_nombre_dia;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298448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B2A3A"/>
                </a:solidFill>
                <a:latin typeface="Arial"/>
              </a:rPr>
              <a:t>Con parámetros · telemetría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719072"/>
            <a:ext cx="4023360" cy="2313432"/>
          </a:xfrm>
          <a:prstGeom prst="roundRect">
            <a:avLst>
              <a:gd name="adj" fmla="val 5000"/>
            </a:avLst>
          </a:prstGeom>
          <a:solidFill>
            <a:srgbClr val="0F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28031" y="1865376"/>
            <a:ext cx="3694176" cy="2039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>-- fn_velocidad_promedio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>SELECT ROUND(AVG(velocidad_kmh), 2)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>  INTO v_promedio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>  FROM telemetria_vehiculo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> WHERE id_recorrido =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>       p_id_recorrido;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>RETURN v_promedio;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24528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Uso desde PL/SQL: v_dia := fn_dia_semana_actual;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Ventaja: cálculo consistente. Costo: llamadas repetidas pueden afectar consultas masivas.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Procesamiento masivo de reincidencias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Un procedimiento diario coordina la revisión de todos los conductores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457200" y="1325880"/>
            <a:ext cx="502920" cy="50292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0"/>
          <p:cNvSpPr txBox="1"/>
          <p:nvPr/>
        </p:nvSpPr>
        <p:spPr>
          <a:xfrm>
            <a:off x="457200" y="13258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 txBox="1"/>
          <p:nvPr/>
        </p:nvSpPr>
        <p:spPr>
          <a:xfrm>
            <a:off x="1143000" y="128016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50"/>
              <a:buFont typeface="Courier New"/>
              <a:buNone/>
            </a:pPr>
            <a:r>
              <a:rPr lang="en-US" sz="1250" b="1" i="0" u="none" strike="noStrike" cap="none">
                <a:solidFill>
                  <a:srgbClr val="1B2A3A"/>
                </a:solidFill>
                <a:latin typeface="Courier New"/>
                <a:ea typeface="Courier New"/>
                <a:cs typeface="Courier New"/>
                <a:sym typeface="Courier New"/>
              </a:rPr>
              <a:t>c_conductores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250" b="1" i="0" u="none" strike="noStrike" cap="none">
                <a:solidFill>
                  <a:srgbClr val="1B2A3A"/>
                </a:solidFill>
                <a:latin typeface="Courier New"/>
                <a:ea typeface="Courier New"/>
                <a:cs typeface="Courier New"/>
                <a:sym typeface="Courier New"/>
              </a:rPr>
              <a:t>Obtiene todos los conductores</a:t>
            </a:r>
          </a:p>
        </p:txBody>
      </p:sp>
      <p:cxnSp>
        <p:nvCxnSpPr>
          <p:cNvPr id="130" name="Google Shape;130;p10"/>
          <p:cNvCxnSpPr/>
          <p:nvPr/>
        </p:nvCxnSpPr>
        <p:spPr>
          <a:xfrm>
            <a:off x="708660" y="1847088"/>
            <a:ext cx="0" cy="301752"/>
          </a:xfrm>
          <a:prstGeom prst="straightConnector1">
            <a:avLst/>
          </a:prstGeom>
          <a:noFill/>
          <a:ln w="25400" cap="flat" cmpd="sng">
            <a:solidFill>
              <a:srgbClr val="F2A9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1" name="Google Shape;131;p10"/>
          <p:cNvSpPr/>
          <p:nvPr/>
        </p:nvSpPr>
        <p:spPr>
          <a:xfrm>
            <a:off x="457200" y="2148840"/>
            <a:ext cx="502920" cy="50292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0"/>
          <p:cNvSpPr txBox="1"/>
          <p:nvPr/>
        </p:nvSpPr>
        <p:spPr>
          <a:xfrm>
            <a:off x="457200" y="2148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0"/>
          <p:cNvSpPr txBox="1"/>
          <p:nvPr/>
        </p:nvSpPr>
        <p:spPr>
          <a:xfrm>
            <a:off x="1143000" y="210312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50"/>
              <a:buFont typeface="Courier New"/>
              <a:buNone/>
            </a:pPr>
            <a:r>
              <a:rPr lang="en-US" sz="1250" b="1" i="0" u="none" strike="noStrike" cap="none">
                <a:solidFill>
                  <a:srgbClr val="1B2A3A"/>
                </a:solidFill>
                <a:latin typeface="Courier New"/>
                <a:ea typeface="Courier New"/>
                <a:cs typeface="Courier New"/>
                <a:sym typeface="Courier New"/>
              </a:rPr>
              <a:t>Evaluación individual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250" b="1" i="0" u="none" strike="noStrike" cap="none">
                <a:solidFill>
                  <a:srgbClr val="1B2A3A"/>
                </a:solidFill>
                <a:latin typeface="Courier New"/>
                <a:ea typeface="Courier New"/>
                <a:cs typeface="Courier New"/>
                <a:sym typeface="Courier New"/>
              </a:rPr>
              <a:t>Llama a sp_evaluar_reincidencia</a:t>
            </a:r>
          </a:p>
        </p:txBody>
      </p:sp>
      <p:cxnSp>
        <p:nvCxnSpPr>
          <p:cNvPr id="134" name="Google Shape;134;p10"/>
          <p:cNvCxnSpPr/>
          <p:nvPr/>
        </p:nvCxnSpPr>
        <p:spPr>
          <a:xfrm>
            <a:off x="708660" y="2670048"/>
            <a:ext cx="0" cy="301752"/>
          </a:xfrm>
          <a:prstGeom prst="straightConnector1">
            <a:avLst/>
          </a:prstGeom>
          <a:noFill/>
          <a:ln w="25400" cap="flat" cmpd="sng">
            <a:solidFill>
              <a:srgbClr val="F2A9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5" name="Google Shape;135;p10"/>
          <p:cNvSpPr/>
          <p:nvPr/>
        </p:nvSpPr>
        <p:spPr>
          <a:xfrm>
            <a:off x="457200" y="2971800"/>
            <a:ext cx="502920" cy="50292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0"/>
          <p:cNvSpPr txBox="1"/>
          <p:nvPr/>
        </p:nvSpPr>
        <p:spPr>
          <a:xfrm>
            <a:off x="457200" y="2971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 txBox="1"/>
          <p:nvPr/>
        </p:nvSpPr>
        <p:spPr>
          <a:xfrm>
            <a:off x="1143000" y="292608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Conteo y comparación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250" b="1" i="0" u="none" strike="noStrike" cap="non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Tickets del día; cantidad &gt; 10</a:t>
            </a:r>
          </a:p>
        </p:txBody>
      </p:sp>
      <p:cxnSp>
        <p:nvCxnSpPr>
          <p:cNvPr id="138" name="Google Shape;138;p10"/>
          <p:cNvCxnSpPr/>
          <p:nvPr/>
        </p:nvCxnSpPr>
        <p:spPr>
          <a:xfrm>
            <a:off x="708660" y="3493008"/>
            <a:ext cx="0" cy="301752"/>
          </a:xfrm>
          <a:prstGeom prst="straightConnector1">
            <a:avLst/>
          </a:prstGeom>
          <a:noFill/>
          <a:ln w="25400" cap="flat" cmpd="sng">
            <a:solidFill>
              <a:srgbClr val="F2A9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9" name="Google Shape;139;p10"/>
          <p:cNvSpPr/>
          <p:nvPr/>
        </p:nvSpPr>
        <p:spPr>
          <a:xfrm>
            <a:off x="457200" y="3794760"/>
            <a:ext cx="502920" cy="50292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0"/>
          <p:cNvSpPr txBox="1"/>
          <p:nvPr/>
        </p:nvSpPr>
        <p:spPr>
          <a:xfrm>
            <a:off x="457200" y="37947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 txBox="1"/>
          <p:nvPr/>
        </p:nvSpPr>
        <p:spPr>
          <a:xfrm>
            <a:off x="1143000" y="374904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Resultado por conductor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250" b="1" i="0" u="none" strike="noStrike" cap="non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Cantidad de tickets y alerta SI / NO</a:t>
            </a:r>
          </a:p>
        </p:txBody>
      </p:sp>
      <p:sp>
        <p:nvSpPr>
          <p:cNvPr id="142" name="Google Shape;142;p10"/>
          <p:cNvSpPr txBox="1"/>
          <p:nvPr/>
        </p:nvSpPr>
        <p:spPr>
          <a:xfrm>
            <a:off x="457200" y="45720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Período: hoy a las 00:00 hasta mañana a las 00:00 (exclusivo).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4297680" y="1280160"/>
            <a:ext cx="4389120" cy="3108960"/>
          </a:xfrm>
          <a:prstGeom prst="roundRect">
            <a:avLst>
              <a:gd name="adj" fmla="val 2353"/>
            </a:avLst>
          </a:prstGeom>
          <a:solidFill>
            <a:srgbClr val="0F1B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0"/>
          <p:cNvSpPr txBox="1"/>
          <p:nvPr/>
        </p:nvSpPr>
        <p:spPr>
          <a:xfrm>
            <a:off x="4480560" y="1417320"/>
            <a:ext cx="4023360" cy="283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-- Fragmento del ciclo diario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100" b="0" i="0" u="none" strike="noStrike" cap="non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FOR r_cond IN c_conductores LOOP</a:t>
            </a:r>
          </a:p>
          <a:p>
            <a:r>
              <a:rPr lang="en-US" sz="1100" b="0" i="0" u="none" strike="noStrike" cap="non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sp_evaluar_reincidencia(</a:t>
            </a:r>
          </a:p>
          <a:p>
            <a:r>
              <a:rPr lang="en-US" sz="1100" b="0" i="0" u="none" strike="noStrike" cap="non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'CONDUCTOR',</a:t>
            </a:r>
          </a:p>
          <a:p>
            <a:r>
              <a:rPr lang="en-US" sz="1100" b="0" i="0" u="none" strike="noStrike" cap="non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r_cond.id_conductor,</a:t>
            </a:r>
          </a:p>
          <a:p>
            <a:r>
              <a:rPr lang="en-US" sz="1100" b="0" i="0" u="none" strike="noStrike" cap="non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v_inicio, v_fin, 10,</a:t>
            </a:r>
          </a:p>
          <a:p>
            <a:r>
              <a:rPr lang="en-US" sz="1100" b="0" i="0" u="none" strike="noStrike" cap="non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v_cant, v_supera);</a:t>
            </a:r>
          </a:p>
          <a:p>
            <a:r>
              <a:rPr lang="en-US" sz="1100" b="0" i="0" u="none" strike="noStrike" cap="non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END LOOP;</a:t>
            </a:r>
          </a:p>
          <a:p>
            <a:endParaRPr lang="en-US" sz="1100" b="0" i="0" u="none" strike="noStrike" cap="none">
              <a:solidFill>
                <a:srgbClr val="E6EDF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100" b="0" i="0" u="none" strike="noStrike" cap="non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-- Invocación sin parámetros</a:t>
            </a:r>
          </a:p>
          <a:p>
            <a:r>
              <a:rPr lang="en-US" sz="1100" b="0" i="0" u="none" strike="noStrike" cap="non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</a:p>
          <a:p>
            <a:r>
              <a:rPr lang="en-US" sz="1100" b="0" i="0" u="none" strike="noStrike" cap="non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sp_revisar_reincidencia_diaria;</a:t>
            </a:r>
          </a:p>
          <a:p>
            <a:r>
              <a:rPr lang="en-US" sz="1100" b="0" i="0" u="none" strike="noStrike" cap="non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END;</a:t>
            </a:r>
          </a:p>
        </p:txBody>
      </p:sp>
      <p:sp>
        <p:nvSpPr>
          <p:cNvPr id="145" name="Google Shape;145;p10">
            <a:hlinkClick r:id="rId3"/>
          </p:cNvPr>
          <p:cNvSpPr txBox="1"/>
          <p:nvPr/>
        </p:nvSpPr>
        <p:spPr>
          <a:xfrm>
            <a:off x="4297680" y="448056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Reutiliza las mismas reglas para cada conductor y evita duplicar el conteo.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Box 15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800" b="1">
                <a:solidFill>
                  <a:srgbClr val="1B2A3A"/>
                </a:solidFill>
                <a:latin typeface="Arial"/>
              </a:rPr>
              <a:t>Packages: interfaz pública y lógica privada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57200" y="859536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5B6B7A"/>
                </a:solidFill>
                <a:latin typeface="Calibri"/>
              </a:rPr>
              <a:t>pkg_telemetria organiza mediciones; pkg_tarifas concentra las reglas tarifarias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457200" y="1371600"/>
            <a:ext cx="3886200" cy="128016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640080" y="153619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1B2A3A"/>
                </a:solidFill>
                <a:latin typeface="Arial"/>
              </a:rPr>
              <a:t>Specification · público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40080" y="1965960"/>
            <a:ext cx="35204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F2933"/>
                </a:solidFill>
                <a:latin typeface="Calibri"/>
              </a:rPr>
              <a:t>Expone fn_calcular_tarifa para que otras consultas y programas calculen el monto.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457200" y="2816352"/>
            <a:ext cx="3886200" cy="1389888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640080" y="298094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1B2A3A"/>
                </a:solidFill>
                <a:latin typeface="Arial"/>
              </a:rPr>
              <a:t>Body · implementación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40080" y="3392424"/>
            <a:ext cx="35204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F2933"/>
                </a:solidFill>
                <a:latin typeface="Calibri"/>
              </a:rPr>
              <a:t>fn_usuario_existe_privado solo se declara en el body y se usa internamente.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4572000" y="1371600"/>
            <a:ext cx="4114800" cy="2834640"/>
          </a:xfrm>
          <a:prstGeom prst="roundRect">
            <a:avLst>
              <a:gd name="adj" fmla="val 5000"/>
            </a:avLst>
          </a:prstGeom>
          <a:solidFill>
            <a:srgbClr val="0F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4736592" y="1517904"/>
            <a:ext cx="378561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>-- Interfaz de pkg_tarifas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>FUNCTION fn_calcular_tarifa(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>  p_id_ruta IN VARCHAR2,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>  p_id_usuario IN VARCHAR2)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>RETURN NUMBER;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sz="1200" b="0">
              <a:solidFill>
                <a:srgbClr val="E6EDF3"/>
              </a:solidFill>
              <a:latin typeface="Courier New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>-- Solo en el body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>FUNCTION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>  fn_usuario_existe_privado(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>    p_id_usuario IN VARCHAR2)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>RETURN BOOLEAN;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4453128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2A3A"/>
                </a:solidFill>
                <a:latin typeface="Calibri"/>
              </a:rPr>
              <a:t>Justificación: encapsular validaciones y mantener un único punto de cálculo tarifario.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175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800" b="1">
                <a:solidFill>
                  <a:srgbClr val="1B2A3A"/>
                </a:solidFill>
                <a:latin typeface="Arial"/>
              </a:rPr>
              <a:t>Triggers por fila: integridad de los tickets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57200" y="859536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5B6B7A"/>
                </a:solidFill>
                <a:latin typeface="Calibri"/>
              </a:rPr>
              <a:t>Se ejecutan automáticamente sobre ticket_incidencia con FOR EACH ROW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457200" y="1353312"/>
            <a:ext cx="3886200" cy="141732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621792" y="150876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B2A3A"/>
                </a:solidFill>
                <a:latin typeface="Courier New"/>
              </a:rPr>
              <a:t>trg_ticket_estado_inicial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21792" y="1938528"/>
            <a:ext cx="35661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BEFORE INSERT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Asigna PENDIENTE y SYSTIMESTAMP en cada ticket nuevo.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4572000" y="1353312"/>
            <a:ext cx="4114800" cy="1417320"/>
          </a:xfrm>
          <a:prstGeom prst="roundRect">
            <a:avLst>
              <a:gd name="adj" fmla="val 5000"/>
            </a:avLst>
          </a:prstGeom>
          <a:solidFill>
            <a:srgbClr val="0F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4736592" y="1499616"/>
            <a:ext cx="378561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Courier New"/>
              </a:rPr>
              <a:t>-- Asignaciones por fila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Courier New"/>
              </a:rPr>
              <a:t>:NEW.estado_revision :=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Courier New"/>
              </a:rPr>
              <a:t>  'PENDIENTE';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Courier New"/>
              </a:rPr>
              <a:t>:NEW.fecha_creacion :=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Courier New"/>
              </a:rPr>
              <a:t>  SYSTIMESTAMP;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57200" y="2999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B2A3A"/>
                </a:solidFill>
                <a:latin typeface="Courier New"/>
              </a:rPr>
              <a:t>trg_ticket_valida_cambio · BEFORE UPDATE OF estado_revision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457200" y="3520440"/>
            <a:ext cx="8229600" cy="59436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640080" y="3675887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900" b="1">
                <a:solidFill>
                  <a:srgbClr val="1B2A3A"/>
                </a:solidFill>
                <a:latin typeface="Arial"/>
              </a:rPr>
              <a:t>PENDIENTE → EN_PROCESO → RESUELTO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57200" y="4279392"/>
            <a:ext cx="82296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F2933"/>
                </a:solidFill>
                <a:latin typeface="Calibri"/>
              </a:rPr>
              <a:t>PENDIENTE y EN_PROCESO también permiten DESESTIMADO.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F2933"/>
                </a:solidFill>
                <a:latin typeface="Calibri"/>
              </a:rPr>
              <a:t>Rechaza estados nulos y cambios de estado en tickets finalizados.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800" b="1">
                <a:solidFill>
                  <a:srgbClr val="1B2A3A"/>
                </a:solidFill>
                <a:latin typeface="Arial"/>
              </a:rPr>
              <a:t>Trigger por sentencia: aviso de inserción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59536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5B6B7A"/>
                </a:solidFill>
                <a:latin typeface="Calibri"/>
              </a:rPr>
              <a:t>trg_ticket_aviso_insercion · AFTER INSERT ON ticket_incidencia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89888"/>
            <a:ext cx="4937760" cy="2514600"/>
          </a:xfrm>
          <a:prstGeom prst="roundRect">
            <a:avLst>
              <a:gd name="adj" fmla="val 5000"/>
            </a:avLst>
          </a:prstGeom>
          <a:solidFill>
            <a:srgbClr val="0F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536192"/>
            <a:ext cx="4608576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Courier New"/>
              </a:rPr>
              <a:t>CREATE OR REPLACE TRIGGER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Courier New"/>
              </a:rPr>
              <a:t>  trg_ticket_aviso_insercion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Courier New"/>
              </a:rPr>
              <a:t>AFTER INSERT ON ticket_incidencia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Courier New"/>
              </a:rPr>
              <a:t>BEGIN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Courier New"/>
              </a:rPr>
              <a:t>  DBMS_OUTPUT.PUT_LINE(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Courier New"/>
              </a:rPr>
              <a:t>    'Se ejecuto una sentencia INSERT'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Courier New"/>
              </a:rPr>
              <a:t>    || ' sobre tickets.');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Courier New"/>
              </a:rPr>
              <a:t>END;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0" y="1389888"/>
            <a:ext cx="3063240" cy="251460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06440" y="1581912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B2A3A"/>
                </a:solidFill>
                <a:latin typeface="Arial"/>
              </a:rPr>
              <a:t>Una vez por sentencia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2103120"/>
            <a:ext cx="269748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1F2933"/>
                </a:solidFill>
                <a:latin typeface="Calibri"/>
              </a:rPr>
              <a:t>No usa FOR EACH ROW.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1F2933"/>
                </a:solidFill>
                <a:latin typeface="Calibri"/>
              </a:rPr>
              <a:t>Un INSERT de 100 filas: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1F2933"/>
                </a:solidFill>
                <a:latin typeface="Calibri"/>
              </a:rPr>
              <a:t>• trigger de fila: 100 veces;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1F2933"/>
                </a:solidFill>
                <a:latin typeface="Calibri"/>
              </a:rPr>
              <a:t>• este trigger: 1 vez.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Justificación: informa que se ejecutó la operación sin repetir el aviso por cada ticket.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Es diagnóstico con DBMS_OUTPUT; no guarda auditoría ni confirma el COMMIT.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A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Box 195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Conclusión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457200" y="859536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TuRecorrido · Vicente Herrera · Nicolás Irarrázabal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457200" y="1371600"/>
            <a:ext cx="8229600" cy="804672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658368" y="148132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1B2A3A"/>
                </a:solidFill>
                <a:latin typeface="Arial"/>
              </a:rPr>
              <a:t>Reutilización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2743200" y="1490472"/>
            <a:ext cx="5669280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1F2933"/>
                </a:solidFill>
                <a:latin typeface="Calibri"/>
              </a:rPr>
              <a:t>Procedimientos y funciones centralizan conteos, promedios y tarifas.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457200" y="2331720"/>
            <a:ext cx="8229600" cy="804672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658368" y="244144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1B2A3A"/>
                </a:solidFill>
                <a:latin typeface="Arial"/>
              </a:rPr>
              <a:t>Organización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2743200" y="2450591"/>
            <a:ext cx="5669280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1F2933"/>
                </a:solidFill>
                <a:latin typeface="Calibri"/>
              </a:rPr>
              <a:t>Los packages separan la interfaz pública de las validaciones internas.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457200" y="3291840"/>
            <a:ext cx="8229600" cy="804672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658368" y="340156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1B2A3A"/>
                </a:solidFill>
                <a:latin typeface="Arial"/>
              </a:rPr>
              <a:t>Integridad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2743200" y="3410712"/>
            <a:ext cx="5669280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1F2933"/>
                </a:solidFill>
                <a:latin typeface="Calibri"/>
              </a:rPr>
              <a:t>Los triggers asignan el estado inicial y controlan las transiciones de tickets.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E6EDF3"/>
                </a:solidFill>
                <a:latin typeface="Calibri"/>
              </a:rPr>
              <a:t>Próximo paso: programar la revisión diaria con DBMS_SCHEDULER y evaluar mejoras masivas.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1216</Words>
  <Application>Microsoft Office PowerPoint</Application>
  <PresentationFormat>Presentación en pantalla (16:9)</PresentationFormat>
  <Paragraphs>179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NICOLAS IRARRAZABAL TORRIJOS</cp:lastModifiedBy>
  <cp:revision>1</cp:revision>
  <dcterms:created xsi:type="dcterms:W3CDTF">2026-09-15T01:51:44Z</dcterms:created>
  <dcterms:modified xsi:type="dcterms:W3CDTF">2026-10-26T16:30:05Z</dcterms:modified>
</cp:coreProperties>
</file>